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2.png"/><Relationship Id="rId4" Type="http://schemas.openxmlformats.org/officeDocument/2006/relationships/image" Target="../media/image-2-2.png"/><Relationship Id="rId5" Type="http://schemas.openxmlformats.org/officeDocument/2006/relationships/image" Target="../media/image-2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3.png"/><Relationship Id="rId6" Type="http://schemas.openxmlformats.org/officeDocument/2006/relationships/image" Target="../media/image-4-1.png"/><Relationship Id="rId7" Type="http://schemas.openxmlformats.org/officeDocument/2006/relationships/image" Target="../media/image-4-3.png"/><Relationship Id="rId8" Type="http://schemas.openxmlformats.org/officeDocument/2006/relationships/image" Target="../media/image-4-8.png"/><Relationship Id="rId9" Type="http://schemas.openxmlformats.org/officeDocument/2006/relationships/image" Target="../media/image-4-3.png"/><Relationship Id="rId10" Type="http://schemas.openxmlformats.org/officeDocument/2006/relationships/image" Target="../media/image-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2.png"/><Relationship Id="rId4" Type="http://schemas.openxmlformats.org/officeDocument/2006/relationships/image" Target="../media/image-5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2.png"/><Relationship Id="rId4" Type="http://schemas.openxmlformats.org/officeDocument/2006/relationships/image" Target="../media/image-8-2.png"/><Relationship Id="rId5" Type="http://schemas.openxmlformats.org/officeDocument/2006/relationships/image" Target="../media/image-8-2.png"/><Relationship Id="rId6" Type="http://schemas.openxmlformats.org/officeDocument/2006/relationships/image" Target="../media/image-8-2.png"/><Relationship Id="rId7" Type="http://schemas.openxmlformats.org/officeDocument/2006/relationships/image" Target="../media/image-8-2.png"/><Relationship Id="rId8" Type="http://schemas.openxmlformats.org/officeDocument/2006/relationships/image" Target="../media/image-8-2.png"/><Relationship Id="rId9" Type="http://schemas.openxmlformats.org/officeDocument/2006/relationships/image" Target="../media/image-8-2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2.png"/><Relationship Id="rId6" Type="http://schemas.openxmlformats.org/officeDocument/2006/relationships/image" Target="../media/image-9-3.png"/><Relationship Id="rId7" Type="http://schemas.openxmlformats.org/officeDocument/2006/relationships/image" Target="../media/image-9-4.png"/><Relationship Id="rId8" Type="http://schemas.openxmlformats.org/officeDocument/2006/relationships/image" Target="../media/image-9-2.png"/><Relationship Id="rId9" Type="http://schemas.openxmlformats.org/officeDocument/2006/relationships/image" Target="../media/image-9-3.png"/><Relationship Id="rId10" Type="http://schemas.openxmlformats.org/officeDocument/2006/relationships/image" Target="../media/image-9-4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2.png"/><Relationship Id="rId4" Type="http://schemas.openxmlformats.org/officeDocument/2006/relationships/image" Target="../media/image-10-2.png"/><Relationship Id="rId5" Type="http://schemas.openxmlformats.org/officeDocument/2006/relationships/image" Target="../media/image-10-2.png"/><Relationship Id="rId6" Type="http://schemas.openxmlformats.org/officeDocument/2006/relationships/image" Target="../media/image-10-2.png"/><Relationship Id="rId7" Type="http://schemas.openxmlformats.org/officeDocument/2006/relationships/image" Target="../media/image-10-2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45836" y="685800"/>
            <a:ext cx="1097280" cy="1097280"/>
          </a:xfrm>
          <a:prstGeom prst="ellipse">
            <a:avLst/>
          </a:prstGeom>
          <a:solidFill>
            <a:srgbClr val="0B5563"/>
          </a:solidFill>
          <a:ln/>
        </p:spPr>
      </p:sp>
      <p:pic>
        <p:nvPicPr>
          <p:cNvPr id="3" name="Image 0" descr="icons/bo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1129" y="971093"/>
            <a:ext cx="526694" cy="5266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1488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Stock Analysis System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4174236" y="2971800"/>
            <a:ext cx="3840480" cy="45720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6" name="Text 3"/>
          <p:cNvSpPr/>
          <p:nvPr/>
        </p:nvSpPr>
        <p:spPr>
          <a:xfrm>
            <a:off x="4174236" y="29718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ASSESSMENT - II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31520" y="361188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•  Module Development &amp; Progress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47091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Programming Lab (N-PCCCD304P)  —  Experiential Learning Utility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31520" y="50749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Anshul Kumbhare  |  Diploma in Computer Engineering, Sem VI  |  NIT Polytechnic, Nagpur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566928" cy="566928"/>
          </a:xfrm>
          <a:prstGeom prst="ellipse">
            <a:avLst/>
          </a:prstGeom>
          <a:solidFill>
            <a:srgbClr val="0B5563"/>
          </a:solidFill>
          <a:ln/>
        </p:spPr>
      </p:sp>
      <p:pic>
        <p:nvPicPr>
          <p:cNvPr id="3" name="Image 0" descr="icons/rec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321" y="51316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6576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Recap: Phase 1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48640" y="1188720"/>
            <a:ext cx="11064240" cy="594360"/>
          </a:xfrm>
          <a:prstGeom prst="roundRect">
            <a:avLst>
              <a:gd name="adj" fmla="val 12308"/>
            </a:avLst>
          </a:prstGeom>
          <a:solidFill>
            <a:srgbClr val="EFF6F6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118872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small businesses track stock manually — leading to errors and missed restocking.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2194560"/>
            <a:ext cx="310896" cy="310896"/>
          </a:xfrm>
          <a:prstGeom prst="ellipse">
            <a:avLst/>
          </a:prstGeom>
          <a:solidFill>
            <a:srgbClr val="0F8B8D"/>
          </a:solidFill>
          <a:ln/>
        </p:spPr>
      </p:sp>
      <p:pic>
        <p:nvPicPr>
          <p:cNvPr id="8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913" y="2275393"/>
            <a:ext cx="149230" cy="14923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43000" y="2148840"/>
            <a:ext cx="10378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statement, objectives and scope documented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640080" y="2971800"/>
            <a:ext cx="310896" cy="310896"/>
          </a:xfrm>
          <a:prstGeom prst="ellipse">
            <a:avLst/>
          </a:prstGeom>
          <a:solidFill>
            <a:srgbClr val="0F8B8D"/>
          </a:solidFill>
          <a:ln/>
        </p:spPr>
      </p:sp>
      <p:pic>
        <p:nvPicPr>
          <p:cNvPr id="11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913" y="3052633"/>
            <a:ext cx="149230" cy="14923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43000" y="2926080"/>
            <a:ext cx="10378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approach and flowchart designed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640080" y="3749040"/>
            <a:ext cx="310896" cy="310896"/>
          </a:xfrm>
          <a:prstGeom prst="ellipse">
            <a:avLst/>
          </a:prstGeom>
          <a:solidFill>
            <a:srgbClr val="0F8B8D"/>
          </a:solidFill>
          <a:ln/>
        </p:spPr>
      </p:sp>
      <p:pic>
        <p:nvPicPr>
          <p:cNvPr id="14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913" y="3829873"/>
            <a:ext cx="149230" cy="14923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43000" y="3703320"/>
            <a:ext cx="10378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GitHub repository created with README</a:t>
            </a:r>
            <a:endParaRPr lang="en-US" sz="1500" dirty="0"/>
          </a:p>
        </p:txBody>
      </p:sp>
      <p:sp>
        <p:nvSpPr>
          <p:cNvPr id="16" name="Shape 10"/>
          <p:cNvSpPr/>
          <p:nvPr/>
        </p:nvSpPr>
        <p:spPr>
          <a:xfrm>
            <a:off x="640080" y="4526280"/>
            <a:ext cx="310896" cy="310896"/>
          </a:xfrm>
          <a:prstGeom prst="ellipse">
            <a:avLst/>
          </a:prstGeom>
          <a:solidFill>
            <a:srgbClr val="0F8B8D"/>
          </a:solidFill>
          <a:ln/>
        </p:spPr>
      </p:sp>
      <p:pic>
        <p:nvPicPr>
          <p:cNvPr id="17" name="Image 4" descr="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913" y="4607113"/>
            <a:ext cx="149230" cy="14923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143000" y="4480560"/>
            <a:ext cx="10378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skeleton committed with empty function stubs</a:t>
            </a:r>
            <a:endParaRPr lang="en-US" sz="1500" dirty="0"/>
          </a:p>
        </p:txBody>
      </p:sp>
      <p:sp>
        <p:nvSpPr>
          <p:cNvPr id="19" name="Text 1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050" dirty="0"/>
          </a:p>
        </p:txBody>
      </p:sp>
      <p:sp>
        <p:nvSpPr>
          <p:cNvPr id="20" name="Text 13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Assessment - II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3" name="Image 0" descr="icons/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321" y="51316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6576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Objectives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11064240" cy="749808"/>
          </a:xfrm>
          <a:prstGeom prst="roundRect">
            <a:avLst>
              <a:gd name="adj" fmla="val 12195"/>
            </a:avLst>
          </a:prstGeom>
          <a:solidFill>
            <a:srgbClr val="EFF6F6"/>
          </a:solidFill>
          <a:ln/>
        </p:spPr>
      </p:sp>
      <p:sp>
        <p:nvSpPr>
          <p:cNvPr id="6" name="Shape 3"/>
          <p:cNvSpPr/>
          <p:nvPr/>
        </p:nvSpPr>
        <p:spPr>
          <a:xfrm>
            <a:off x="749808" y="1517904"/>
            <a:ext cx="457200" cy="457200"/>
          </a:xfrm>
          <a:prstGeom prst="ellipse">
            <a:avLst/>
          </a:prstGeom>
          <a:solidFill>
            <a:srgbClr val="0F8B8D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1517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417320" y="1371600"/>
            <a:ext cx="9966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the core functions with real working logic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2240280"/>
            <a:ext cx="1106424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749808" y="2386584"/>
            <a:ext cx="457200" cy="457200"/>
          </a:xfrm>
          <a:prstGeom prst="ellipse">
            <a:avLst/>
          </a:prstGeom>
          <a:solidFill>
            <a:srgbClr val="0F8B8D"/>
          </a:solidFill>
          <a:ln/>
        </p:spPr>
      </p:sp>
      <p:sp>
        <p:nvSpPr>
          <p:cNvPr id="11" name="Text 8"/>
          <p:cNvSpPr/>
          <p:nvPr/>
        </p:nvSpPr>
        <p:spPr>
          <a:xfrm>
            <a:off x="749808" y="2386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417320" y="2240280"/>
            <a:ext cx="9966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and update inventory data using file handling (JSON)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48640" y="3108960"/>
            <a:ext cx="11064240" cy="749808"/>
          </a:xfrm>
          <a:prstGeom prst="roundRect">
            <a:avLst>
              <a:gd name="adj" fmla="val 12195"/>
            </a:avLst>
          </a:prstGeom>
          <a:solidFill>
            <a:srgbClr val="EFF6F6"/>
          </a:solidFill>
          <a:ln/>
        </p:spPr>
      </p:sp>
      <p:sp>
        <p:nvSpPr>
          <p:cNvPr id="14" name="Shape 11"/>
          <p:cNvSpPr/>
          <p:nvPr/>
        </p:nvSpPr>
        <p:spPr>
          <a:xfrm>
            <a:off x="749808" y="3255264"/>
            <a:ext cx="457200" cy="457200"/>
          </a:xfrm>
          <a:prstGeom prst="ellipse">
            <a:avLst/>
          </a:prstGeom>
          <a:solidFill>
            <a:srgbClr val="0F8B8D"/>
          </a:solidFill>
          <a:ln/>
        </p:spPr>
      </p:sp>
      <p:sp>
        <p:nvSpPr>
          <p:cNvPr id="15" name="Text 12"/>
          <p:cNvSpPr/>
          <p:nvPr/>
        </p:nvSpPr>
        <p:spPr>
          <a:xfrm>
            <a:off x="749808" y="3255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417320" y="3108960"/>
            <a:ext cx="9966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basic input validation and edge cases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48640" y="3977640"/>
            <a:ext cx="1106424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/>
        </p:spPr>
      </p:sp>
      <p:sp>
        <p:nvSpPr>
          <p:cNvPr id="18" name="Shape 15"/>
          <p:cNvSpPr/>
          <p:nvPr/>
        </p:nvSpPr>
        <p:spPr>
          <a:xfrm>
            <a:off x="749808" y="4123944"/>
            <a:ext cx="457200" cy="457200"/>
          </a:xfrm>
          <a:prstGeom prst="ellipse">
            <a:avLst/>
          </a:prstGeom>
          <a:solidFill>
            <a:srgbClr val="0F8B8D"/>
          </a:solidFill>
          <a:ln/>
        </p:spPr>
      </p:sp>
      <p:sp>
        <p:nvSpPr>
          <p:cNvPr id="19" name="Text 16"/>
          <p:cNvSpPr/>
          <p:nvPr/>
        </p:nvSpPr>
        <p:spPr>
          <a:xfrm>
            <a:off x="749808" y="4123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417320" y="3977640"/>
            <a:ext cx="9966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add / update / sale / alert operations end-to-end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548640" y="4846320"/>
            <a:ext cx="11064240" cy="749808"/>
          </a:xfrm>
          <a:prstGeom prst="roundRect">
            <a:avLst>
              <a:gd name="adj" fmla="val 12195"/>
            </a:avLst>
          </a:prstGeom>
          <a:solidFill>
            <a:srgbClr val="EFF6F6"/>
          </a:solidFill>
          <a:ln/>
        </p:spPr>
      </p:sp>
      <p:sp>
        <p:nvSpPr>
          <p:cNvPr id="22" name="Shape 19"/>
          <p:cNvSpPr/>
          <p:nvPr/>
        </p:nvSpPr>
        <p:spPr>
          <a:xfrm>
            <a:off x="749808" y="4992624"/>
            <a:ext cx="457200" cy="457200"/>
          </a:xfrm>
          <a:prstGeom prst="ellipse">
            <a:avLst/>
          </a:prstGeom>
          <a:solidFill>
            <a:srgbClr val="0F8B8D"/>
          </a:solidFill>
          <a:ln/>
        </p:spPr>
      </p:sp>
      <p:sp>
        <p:nvSpPr>
          <p:cNvPr id="23" name="Text 20"/>
          <p:cNvSpPr/>
          <p:nvPr/>
        </p:nvSpPr>
        <p:spPr>
          <a:xfrm>
            <a:off x="749808" y="4992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417320" y="4846320"/>
            <a:ext cx="9966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GitHub practice with more frequent, descriptive commits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Development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Assessment - II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566928" cy="566928"/>
          </a:xfrm>
          <a:prstGeom prst="ellipse">
            <a:avLst/>
          </a:prstGeom>
          <a:solidFill>
            <a:srgbClr val="0B5563"/>
          </a:solidFill>
          <a:ln/>
        </p:spPr>
      </p:sp>
      <p:pic>
        <p:nvPicPr>
          <p:cNvPr id="3" name="Image 0" descr="icons/co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321" y="51316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6576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menu choice flows through the same core loop — read, act, persist, alert.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1197864" y="1920240"/>
            <a:ext cx="731520" cy="731520"/>
          </a:xfrm>
          <a:prstGeom prst="ellipse">
            <a:avLst/>
          </a:prstGeom>
          <a:solidFill>
            <a:srgbClr val="0B5563"/>
          </a:solidFill>
          <a:ln/>
        </p:spPr>
      </p:sp>
      <p:pic>
        <p:nvPicPr>
          <p:cNvPr id="7" name="Image 1" descr="icons/us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8059" y="2110435"/>
            <a:ext cx="351130" cy="351130"/>
          </a:xfrm>
          <a:prstGeom prst="rect">
            <a:avLst/>
          </a:prstGeom>
        </p:spPr>
      </p:pic>
      <p:pic>
        <p:nvPicPr>
          <p:cNvPr id="8" name="Image 2" descr="icons/arr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2898" y="2176272"/>
            <a:ext cx="256032" cy="25603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48640" y="2834640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350" dirty="0"/>
          </a:p>
        </p:txBody>
      </p:sp>
      <p:sp>
        <p:nvSpPr>
          <p:cNvPr id="10" name="Text 5"/>
          <p:cNvSpPr/>
          <p:nvPr/>
        </p:nvSpPr>
        <p:spPr>
          <a:xfrm>
            <a:off x="457200" y="3200400"/>
            <a:ext cx="2212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Chooses a menu option</a:t>
            </a:r>
            <a:endParaRPr lang="en-US" sz="1100" dirty="0"/>
          </a:p>
        </p:txBody>
      </p:sp>
      <p:sp>
        <p:nvSpPr>
          <p:cNvPr id="11" name="Shape 6"/>
          <p:cNvSpPr/>
          <p:nvPr/>
        </p:nvSpPr>
        <p:spPr>
          <a:xfrm>
            <a:off x="3456432" y="1920240"/>
            <a:ext cx="731520" cy="731520"/>
          </a:xfrm>
          <a:prstGeom prst="ellipse">
            <a:avLst/>
          </a:prstGeom>
          <a:solidFill>
            <a:srgbClr val="0B5563"/>
          </a:solidFill>
          <a:ln/>
        </p:spPr>
      </p:sp>
      <p:pic>
        <p:nvPicPr>
          <p:cNvPr id="12" name="Image 3" descr="icons/menu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6627" y="2110435"/>
            <a:ext cx="351130" cy="351130"/>
          </a:xfrm>
          <a:prstGeom prst="rect">
            <a:avLst/>
          </a:prstGeom>
        </p:spPr>
      </p:pic>
      <p:pic>
        <p:nvPicPr>
          <p:cNvPr id="13" name="Image 4" descr="icons/arro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1466" y="2176272"/>
            <a:ext cx="256032" cy="25603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2807208" y="2834640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Routes</a:t>
            </a:r>
            <a:endParaRPr lang="en-US" sz="1350" dirty="0"/>
          </a:p>
        </p:txBody>
      </p:sp>
      <p:sp>
        <p:nvSpPr>
          <p:cNvPr id="15" name="Text 8"/>
          <p:cNvSpPr/>
          <p:nvPr/>
        </p:nvSpPr>
        <p:spPr>
          <a:xfrm>
            <a:off x="2715768" y="3200400"/>
            <a:ext cx="2212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the matching function</a:t>
            </a:r>
            <a:endParaRPr lang="en-US" sz="1100" dirty="0"/>
          </a:p>
        </p:txBody>
      </p:sp>
      <p:sp>
        <p:nvSpPr>
          <p:cNvPr id="16" name="Shape 9"/>
          <p:cNvSpPr/>
          <p:nvPr/>
        </p:nvSpPr>
        <p:spPr>
          <a:xfrm>
            <a:off x="5715000" y="1920240"/>
            <a:ext cx="731520" cy="731520"/>
          </a:xfrm>
          <a:prstGeom prst="ellipse">
            <a:avLst/>
          </a:prstGeom>
          <a:solidFill>
            <a:srgbClr val="0B5563"/>
          </a:solidFill>
          <a:ln/>
        </p:spPr>
      </p:sp>
      <p:pic>
        <p:nvPicPr>
          <p:cNvPr id="17" name="Image 5" descr="icons/cog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05195" y="2110435"/>
            <a:ext cx="351130" cy="351130"/>
          </a:xfrm>
          <a:prstGeom prst="rect">
            <a:avLst/>
          </a:prstGeom>
        </p:spPr>
      </p:pic>
      <p:pic>
        <p:nvPicPr>
          <p:cNvPr id="18" name="Image 6" descr="icons/arro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0034" y="2176272"/>
            <a:ext cx="256032" cy="256032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5065776" y="2834640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Runs</a:t>
            </a:r>
            <a:endParaRPr lang="en-US" sz="1350" dirty="0"/>
          </a:p>
        </p:txBody>
      </p:sp>
      <p:sp>
        <p:nvSpPr>
          <p:cNvPr id="20" name="Text 11"/>
          <p:cNvSpPr/>
          <p:nvPr/>
        </p:nvSpPr>
        <p:spPr>
          <a:xfrm>
            <a:off x="4974336" y="3200400"/>
            <a:ext cx="2212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&amp; updates inventory</a:t>
            </a:r>
            <a:endParaRPr lang="en-US" sz="1100" dirty="0"/>
          </a:p>
        </p:txBody>
      </p:sp>
      <p:sp>
        <p:nvSpPr>
          <p:cNvPr id="21" name="Shape 12"/>
          <p:cNvSpPr/>
          <p:nvPr/>
        </p:nvSpPr>
        <p:spPr>
          <a:xfrm>
            <a:off x="7973568" y="1920240"/>
            <a:ext cx="731520" cy="731520"/>
          </a:xfrm>
          <a:prstGeom prst="ellipse">
            <a:avLst/>
          </a:prstGeom>
          <a:solidFill>
            <a:srgbClr val="0B5563"/>
          </a:solidFill>
          <a:ln/>
        </p:spPr>
      </p:sp>
      <p:pic>
        <p:nvPicPr>
          <p:cNvPr id="22" name="Image 7" descr="icons/fil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63763" y="2110435"/>
            <a:ext cx="351130" cy="351130"/>
          </a:xfrm>
          <a:prstGeom prst="rect">
            <a:avLst/>
          </a:prstGeom>
        </p:spPr>
      </p:pic>
      <p:pic>
        <p:nvPicPr>
          <p:cNvPr id="23" name="Image 8" descr="icons/arrow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88602" y="2176272"/>
            <a:ext cx="256032" cy="256032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7324344" y="2834640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Updated</a:t>
            </a:r>
            <a:endParaRPr lang="en-US" sz="1350" dirty="0"/>
          </a:p>
        </p:txBody>
      </p:sp>
      <p:sp>
        <p:nvSpPr>
          <p:cNvPr id="25" name="Text 14"/>
          <p:cNvSpPr/>
          <p:nvPr/>
        </p:nvSpPr>
        <p:spPr>
          <a:xfrm>
            <a:off x="7232904" y="3200400"/>
            <a:ext cx="2212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save_data() writes to JSON</a:t>
            </a:r>
            <a:endParaRPr lang="en-US" sz="1100" dirty="0"/>
          </a:p>
        </p:txBody>
      </p:sp>
      <p:sp>
        <p:nvSpPr>
          <p:cNvPr id="26" name="Shape 15"/>
          <p:cNvSpPr/>
          <p:nvPr/>
        </p:nvSpPr>
        <p:spPr>
          <a:xfrm>
            <a:off x="10232136" y="1920240"/>
            <a:ext cx="731520" cy="731520"/>
          </a:xfrm>
          <a:prstGeom prst="ellipse">
            <a:avLst/>
          </a:prstGeom>
          <a:solidFill>
            <a:srgbClr val="0B5563"/>
          </a:solidFill>
          <a:ln/>
        </p:spPr>
      </p:sp>
      <p:pic>
        <p:nvPicPr>
          <p:cNvPr id="27" name="Image 9" descr="icons/bell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22331" y="2110435"/>
            <a:ext cx="351130" cy="351130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9582912" y="2834640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Check</a:t>
            </a:r>
            <a:endParaRPr lang="en-US" sz="1350" dirty="0"/>
          </a:p>
        </p:txBody>
      </p:sp>
      <p:sp>
        <p:nvSpPr>
          <p:cNvPr id="29" name="Text 17"/>
          <p:cNvSpPr/>
          <p:nvPr/>
        </p:nvSpPr>
        <p:spPr>
          <a:xfrm>
            <a:off x="9491472" y="3200400"/>
            <a:ext cx="2212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items below threshold</a:t>
            </a:r>
            <a:endParaRPr lang="en-US" sz="1100" dirty="0"/>
          </a:p>
        </p:txBody>
      </p:sp>
      <p:sp>
        <p:nvSpPr>
          <p:cNvPr id="30" name="Shape 18"/>
          <p:cNvSpPr/>
          <p:nvPr/>
        </p:nvSpPr>
        <p:spPr>
          <a:xfrm>
            <a:off x="548640" y="457200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EFF6F6"/>
          </a:solidFill>
          <a:ln/>
        </p:spPr>
      </p:sp>
      <p:sp>
        <p:nvSpPr>
          <p:cNvPr id="31" name="Text 19"/>
          <p:cNvSpPr/>
          <p:nvPr/>
        </p:nvSpPr>
        <p:spPr>
          <a:xfrm>
            <a:off x="822960" y="4709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300" dirty="0"/>
          </a:p>
        </p:txBody>
      </p:sp>
      <p:sp>
        <p:nvSpPr>
          <p:cNvPr id="32" name="Text 20"/>
          <p:cNvSpPr/>
          <p:nvPr/>
        </p:nvSpPr>
        <p:spPr>
          <a:xfrm>
            <a:off x="822960" y="50292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4 pens  →  update_stock() reduces quantity  →  save_data() writes the change  →  check_restock_alert() sees stock is now below threshold and warns the user.</a:t>
            </a:r>
            <a:endParaRPr lang="en-US" sz="1350" dirty="0"/>
          </a:p>
        </p:txBody>
      </p:sp>
      <p:sp>
        <p:nvSpPr>
          <p:cNvPr id="33" name="Text 2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Development</a:t>
            </a:r>
            <a:endParaRPr lang="en-US" sz="1050" dirty="0"/>
          </a:p>
        </p:txBody>
      </p:sp>
      <p:sp>
        <p:nvSpPr>
          <p:cNvPr id="34" name="Text 22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Assessment - II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566928" cy="566928"/>
          </a:xfrm>
          <a:prstGeom prst="ellipse">
            <a:avLst/>
          </a:prstGeom>
          <a:solidFill>
            <a:srgbClr val="0B5563"/>
          </a:solidFill>
          <a:ln/>
        </p:spPr>
      </p:sp>
      <p:pic>
        <p:nvPicPr>
          <p:cNvPr id="3" name="Image 0" descr="icons/d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321" y="51316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6576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 in Use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inventory item is stored as a dictionary; all items together form a list — this list is our "array" of records.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6583680" cy="3520440"/>
          </a:xfrm>
          <a:prstGeom prst="roundRect">
            <a:avLst>
              <a:gd name="adj" fmla="val 2078"/>
            </a:avLst>
          </a:prstGeom>
          <a:solidFill>
            <a:srgbClr val="EFF6F6"/>
          </a:solidFill>
          <a:ln w="12700">
            <a:solidFill>
              <a:srgbClr val="D9E6E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1965960"/>
            <a:ext cx="6035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0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inventory = [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0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0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"name": "Notebook",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0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"quantity": 50,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0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"price": 40,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0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"threshold": 10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0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0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0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406640" y="18288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list of dictionaries?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7406640" y="2331720"/>
            <a:ext cx="310896" cy="310896"/>
          </a:xfrm>
          <a:prstGeom prst="ellipse">
            <a:avLst/>
          </a:prstGeom>
          <a:solidFill>
            <a:srgbClr val="0F8B8D"/>
          </a:solidFill>
          <a:ln/>
        </p:spPr>
      </p:sp>
      <p:pic>
        <p:nvPicPr>
          <p:cNvPr id="10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7473" y="2412553"/>
            <a:ext cx="149230" cy="14923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909560" y="2286000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= dynamic size, easy to loop through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7406640" y="2990088"/>
            <a:ext cx="310896" cy="310896"/>
          </a:xfrm>
          <a:prstGeom prst="ellipse">
            <a:avLst/>
          </a:prstGeom>
          <a:solidFill>
            <a:srgbClr val="0F8B8D"/>
          </a:solidFill>
          <a:ln/>
        </p:spPr>
      </p:sp>
      <p:pic>
        <p:nvPicPr>
          <p:cNvPr id="13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7473" y="3070921"/>
            <a:ext cx="149230" cy="14923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09560" y="2944368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 keys make fields self-explanatory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7406640" y="3648456"/>
            <a:ext cx="310896" cy="310896"/>
          </a:xfrm>
          <a:prstGeom prst="ellipse">
            <a:avLst/>
          </a:prstGeom>
          <a:solidFill>
            <a:srgbClr val="0F8B8D"/>
          </a:solidFill>
          <a:ln/>
        </p:spPr>
      </p:sp>
      <p:pic>
        <p:nvPicPr>
          <p:cNvPr id="16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7473" y="3729289"/>
            <a:ext cx="149230" cy="14923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909560" y="3602736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matches the JSON file structure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Development</a:t>
            </a:r>
            <a:endParaRPr lang="en-US" sz="1050" dirty="0"/>
          </a:p>
        </p:txBody>
      </p:sp>
      <p:sp>
        <p:nvSpPr>
          <p:cNvPr id="19" name="Text 13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Assessment - II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3" name="Image 0" descr="icons/co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321" y="51316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6576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Implemented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5440680" cy="1143000"/>
          </a:xfrm>
          <a:prstGeom prst="roundRect">
            <a:avLst>
              <a:gd name="adj" fmla="val 8000"/>
            </a:avLst>
          </a:prstGeom>
          <a:solidFill>
            <a:srgbClr val="EFF6F6"/>
          </a:solidFill>
          <a:ln/>
        </p:spPr>
      </p:sp>
      <p:sp>
        <p:nvSpPr>
          <p:cNvPr id="6" name="Shape 3"/>
          <p:cNvSpPr/>
          <p:nvPr/>
        </p:nvSpPr>
        <p:spPr>
          <a:xfrm>
            <a:off x="694944" y="1444752"/>
            <a:ext cx="91440" cy="813816"/>
          </a:xfrm>
          <a:prstGeom prst="roundRect">
            <a:avLst/>
          </a:prstGeom>
          <a:solidFill>
            <a:srgbClr val="0F8B8D"/>
          </a:solidFill>
          <a:ln/>
        </p:spPr>
      </p:sp>
      <p:sp>
        <p:nvSpPr>
          <p:cNvPr id="7" name="Text 4"/>
          <p:cNvSpPr/>
          <p:nvPr/>
        </p:nvSpPr>
        <p:spPr>
          <a:xfrm>
            <a:off x="932688" y="141732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load_data() / save_data()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932688" y="1810512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Reads/writes inventory to inventory_data.json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63640" y="1280160"/>
            <a:ext cx="5440680" cy="1143000"/>
          </a:xfrm>
          <a:prstGeom prst="roundRect">
            <a:avLst>
              <a:gd name="adj" fmla="val 8000"/>
            </a:avLst>
          </a:prstGeom>
          <a:solidFill>
            <a:srgbClr val="EFF6F6"/>
          </a:solidFill>
          <a:ln/>
        </p:spPr>
      </p:sp>
      <p:sp>
        <p:nvSpPr>
          <p:cNvPr id="10" name="Shape 7"/>
          <p:cNvSpPr/>
          <p:nvPr/>
        </p:nvSpPr>
        <p:spPr>
          <a:xfrm>
            <a:off x="6409944" y="1444752"/>
            <a:ext cx="91440" cy="813816"/>
          </a:xfrm>
          <a:prstGeom prst="roundRect">
            <a:avLst/>
          </a:prstGeom>
          <a:solidFill>
            <a:srgbClr val="0F8B8D"/>
          </a:solidFill>
          <a:ln/>
        </p:spPr>
      </p:sp>
      <p:sp>
        <p:nvSpPr>
          <p:cNvPr id="11" name="Text 8"/>
          <p:cNvSpPr/>
          <p:nvPr/>
        </p:nvSpPr>
        <p:spPr>
          <a:xfrm>
            <a:off x="6647688" y="141732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add_item()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6647688" y="1810512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input, prevents duplicate names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48640" y="2624328"/>
            <a:ext cx="5440680" cy="1143000"/>
          </a:xfrm>
          <a:prstGeom prst="roundRect">
            <a:avLst>
              <a:gd name="adj" fmla="val 8000"/>
            </a:avLst>
          </a:prstGeom>
          <a:solidFill>
            <a:srgbClr val="EFF6F6"/>
          </a:solidFill>
          <a:ln/>
        </p:spPr>
      </p:sp>
      <p:sp>
        <p:nvSpPr>
          <p:cNvPr id="14" name="Shape 11"/>
          <p:cNvSpPr/>
          <p:nvPr/>
        </p:nvSpPr>
        <p:spPr>
          <a:xfrm>
            <a:off x="694944" y="2788920"/>
            <a:ext cx="91440" cy="813816"/>
          </a:xfrm>
          <a:prstGeom prst="roundRect">
            <a:avLst/>
          </a:prstGeom>
          <a:solidFill>
            <a:srgbClr val="0F8B8D"/>
          </a:solidFill>
          <a:ln/>
        </p:spPr>
      </p:sp>
      <p:sp>
        <p:nvSpPr>
          <p:cNvPr id="15" name="Text 12"/>
          <p:cNvSpPr/>
          <p:nvPr/>
        </p:nvSpPr>
        <p:spPr>
          <a:xfrm>
            <a:off x="932688" y="2761488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update_stock()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932688" y="315468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in / stock out, blocks negative stock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263640" y="2624328"/>
            <a:ext cx="5440680" cy="1143000"/>
          </a:xfrm>
          <a:prstGeom prst="roundRect">
            <a:avLst>
              <a:gd name="adj" fmla="val 8000"/>
            </a:avLst>
          </a:prstGeom>
          <a:solidFill>
            <a:srgbClr val="EFF6F6"/>
          </a:solidFill>
          <a:ln/>
        </p:spPr>
      </p:sp>
      <p:sp>
        <p:nvSpPr>
          <p:cNvPr id="18" name="Shape 15"/>
          <p:cNvSpPr/>
          <p:nvPr/>
        </p:nvSpPr>
        <p:spPr>
          <a:xfrm>
            <a:off x="6409944" y="2788920"/>
            <a:ext cx="91440" cy="813816"/>
          </a:xfrm>
          <a:prstGeom prst="roundRect">
            <a:avLst/>
          </a:prstGeom>
          <a:solidFill>
            <a:srgbClr val="0F8B8D"/>
          </a:solidFill>
          <a:ln/>
        </p:spPr>
      </p:sp>
      <p:sp>
        <p:nvSpPr>
          <p:cNvPr id="19" name="Text 16"/>
          <p:cNvSpPr/>
          <p:nvPr/>
        </p:nvSpPr>
        <p:spPr>
          <a:xfrm>
            <a:off x="6647688" y="2761488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record_sale()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6647688" y="315468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Deducts stock, calculates sale amount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548640" y="3968496"/>
            <a:ext cx="5440680" cy="1143000"/>
          </a:xfrm>
          <a:prstGeom prst="roundRect">
            <a:avLst>
              <a:gd name="adj" fmla="val 8000"/>
            </a:avLst>
          </a:prstGeom>
          <a:solidFill>
            <a:srgbClr val="EFF6F6"/>
          </a:solidFill>
          <a:ln/>
        </p:spPr>
      </p:sp>
      <p:sp>
        <p:nvSpPr>
          <p:cNvPr id="22" name="Shape 19"/>
          <p:cNvSpPr/>
          <p:nvPr/>
        </p:nvSpPr>
        <p:spPr>
          <a:xfrm>
            <a:off x="694944" y="4133088"/>
            <a:ext cx="91440" cy="813816"/>
          </a:xfrm>
          <a:prstGeom prst="roundRect">
            <a:avLst/>
          </a:prstGeom>
          <a:solidFill>
            <a:srgbClr val="0F8B8D"/>
          </a:solidFill>
          <a:ln/>
        </p:spPr>
      </p:sp>
      <p:sp>
        <p:nvSpPr>
          <p:cNvPr id="23" name="Text 20"/>
          <p:cNvSpPr/>
          <p:nvPr/>
        </p:nvSpPr>
        <p:spPr>
          <a:xfrm>
            <a:off x="932688" y="4105656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check_restock_alert()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932688" y="4498848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items below their threshold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6263640" y="3968496"/>
            <a:ext cx="5440680" cy="1143000"/>
          </a:xfrm>
          <a:prstGeom prst="roundRect">
            <a:avLst>
              <a:gd name="adj" fmla="val 8000"/>
            </a:avLst>
          </a:prstGeom>
          <a:solidFill>
            <a:srgbClr val="EFF6F6"/>
          </a:solidFill>
          <a:ln/>
        </p:spPr>
      </p:sp>
      <p:sp>
        <p:nvSpPr>
          <p:cNvPr id="26" name="Shape 23"/>
          <p:cNvSpPr/>
          <p:nvPr/>
        </p:nvSpPr>
        <p:spPr>
          <a:xfrm>
            <a:off x="6409944" y="4133088"/>
            <a:ext cx="91440" cy="813816"/>
          </a:xfrm>
          <a:prstGeom prst="roundRect">
            <a:avLst/>
          </a:prstGeom>
          <a:solidFill>
            <a:srgbClr val="0F8B8D"/>
          </a:solidFill>
          <a:ln/>
        </p:spPr>
      </p:sp>
      <p:sp>
        <p:nvSpPr>
          <p:cNvPr id="27" name="Text 24"/>
          <p:cNvSpPr/>
          <p:nvPr/>
        </p:nvSpPr>
        <p:spPr>
          <a:xfrm>
            <a:off x="6647688" y="4105656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view_inventory()</a:t>
            </a:r>
            <a:endParaRPr lang="en-US" sz="1450" dirty="0"/>
          </a:p>
        </p:txBody>
      </p:sp>
      <p:sp>
        <p:nvSpPr>
          <p:cNvPr id="28" name="Text 25"/>
          <p:cNvSpPr/>
          <p:nvPr/>
        </p:nvSpPr>
        <p:spPr>
          <a:xfrm>
            <a:off x="6647688" y="4498848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during dev for easier testing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Development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Assessment - II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566928" cy="566928"/>
          </a:xfrm>
          <a:prstGeom prst="ellipse">
            <a:avLst/>
          </a:prstGeom>
          <a:solidFill>
            <a:srgbClr val="0B5563"/>
          </a:solidFill>
          <a:ln/>
        </p:spPr>
      </p:sp>
      <p:pic>
        <p:nvPicPr>
          <p:cNvPr id="3" name="Image 0" descr="icons/term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321" y="51316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6576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Run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sale is recorded, stock drops below threshold, and an alert is raised automatically: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11064240" cy="3749040"/>
          </a:xfrm>
          <a:prstGeom prst="roundRect">
            <a:avLst>
              <a:gd name="adj" fmla="val 1463"/>
            </a:avLst>
          </a:prstGeom>
          <a:solidFill>
            <a:srgbClr val="1E1E1E"/>
          </a:solidFill>
          <a:ln/>
        </p:spPr>
      </p:sp>
      <p:sp>
        <p:nvSpPr>
          <p:cNvPr id="7" name="Shape 4"/>
          <p:cNvSpPr/>
          <p:nvPr/>
        </p:nvSpPr>
        <p:spPr>
          <a:xfrm>
            <a:off x="804672" y="1828800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1014984" y="1828800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225296" y="1828800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194560"/>
            <a:ext cx="103327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your choice (1-7): 3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item name sold: Pen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quantity sold: 4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 recorded: 4 x 'Pen' = Rs. 20.00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 RESTOCK ALERT ---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'Pen' is low: 1 left (threshold: 10)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Development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Assessment - II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566928" cy="566928"/>
          </a:xfrm>
          <a:prstGeom prst="ellipse">
            <a:avLst/>
          </a:prstGeom>
          <a:solidFill>
            <a:srgbClr val="0B5563"/>
          </a:solidFill>
          <a:ln/>
        </p:spPr>
      </p:sp>
      <p:pic>
        <p:nvPicPr>
          <p:cNvPr id="3" name="Image 0" descr="icons/bran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321" y="51316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6576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Progress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1519047" y="1371600"/>
            <a:ext cx="585216" cy="585216"/>
          </a:xfrm>
          <a:prstGeom prst="ellipse">
            <a:avLst/>
          </a:prstGeom>
          <a:solidFill>
            <a:srgbClr val="0B5563"/>
          </a:solidFill>
          <a:ln/>
        </p:spPr>
      </p:sp>
      <p:sp>
        <p:nvSpPr>
          <p:cNvPr id="6" name="Text 3"/>
          <p:cNvSpPr/>
          <p:nvPr/>
        </p:nvSpPr>
        <p:spPr>
          <a:xfrm>
            <a:off x="1519047" y="13716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2104263" y="1664208"/>
            <a:ext cx="2260854" cy="0"/>
          </a:xfrm>
          <a:prstGeom prst="line">
            <a:avLst/>
          </a:prstGeom>
          <a:noFill/>
          <a:ln w="25400">
            <a:solidFill>
              <a:srgbClr val="0F8B8D"/>
            </a:solidFill>
            <a:prstDash val="dash"/>
          </a:ln>
        </p:spPr>
      </p:sp>
      <p:sp>
        <p:nvSpPr>
          <p:cNvPr id="8" name="Text 5"/>
          <p:cNvSpPr/>
          <p:nvPr/>
        </p:nvSpPr>
        <p:spPr>
          <a:xfrm>
            <a:off x="411480" y="2084832"/>
            <a:ext cx="28003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Branch Created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65117" y="1371600"/>
            <a:ext cx="585216" cy="585216"/>
          </a:xfrm>
          <a:prstGeom prst="ellipse">
            <a:avLst/>
          </a:prstGeom>
          <a:solidFill>
            <a:srgbClr val="0B5563"/>
          </a:solidFill>
          <a:ln/>
        </p:spPr>
      </p:sp>
      <p:sp>
        <p:nvSpPr>
          <p:cNvPr id="10" name="Text 7"/>
          <p:cNvSpPr/>
          <p:nvPr/>
        </p:nvSpPr>
        <p:spPr>
          <a:xfrm>
            <a:off x="4365117" y="13716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4950333" y="1664208"/>
            <a:ext cx="2260854" cy="0"/>
          </a:xfrm>
          <a:prstGeom prst="line">
            <a:avLst/>
          </a:prstGeom>
          <a:noFill/>
          <a:ln w="25400">
            <a:solidFill>
              <a:srgbClr val="0F8B8D"/>
            </a:solidFill>
            <a:prstDash val="dash"/>
          </a:ln>
        </p:spPr>
      </p:sp>
      <p:sp>
        <p:nvSpPr>
          <p:cNvPr id="12" name="Text 9"/>
          <p:cNvSpPr/>
          <p:nvPr/>
        </p:nvSpPr>
        <p:spPr>
          <a:xfrm>
            <a:off x="3257550" y="2084832"/>
            <a:ext cx="28003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Committed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211187" y="1371600"/>
            <a:ext cx="585216" cy="585216"/>
          </a:xfrm>
          <a:prstGeom prst="ellipse">
            <a:avLst/>
          </a:prstGeom>
          <a:solidFill>
            <a:srgbClr val="0B5563"/>
          </a:solidFill>
          <a:ln/>
        </p:spPr>
      </p:sp>
      <p:sp>
        <p:nvSpPr>
          <p:cNvPr id="14" name="Text 11"/>
          <p:cNvSpPr/>
          <p:nvPr/>
        </p:nvSpPr>
        <p:spPr>
          <a:xfrm>
            <a:off x="7211187" y="13716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7796403" y="1664208"/>
            <a:ext cx="2260854" cy="0"/>
          </a:xfrm>
          <a:prstGeom prst="line">
            <a:avLst/>
          </a:prstGeom>
          <a:noFill/>
          <a:ln w="25400">
            <a:solidFill>
              <a:srgbClr val="0F8B8D"/>
            </a:solidFill>
            <a:prstDash val="dash"/>
          </a:ln>
        </p:spPr>
      </p:sp>
      <p:sp>
        <p:nvSpPr>
          <p:cNvPr id="16" name="Text 13"/>
          <p:cNvSpPr/>
          <p:nvPr/>
        </p:nvSpPr>
        <p:spPr>
          <a:xfrm>
            <a:off x="6103620" y="2084832"/>
            <a:ext cx="28003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to Main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10057257" y="1371600"/>
            <a:ext cx="585216" cy="585216"/>
          </a:xfrm>
          <a:prstGeom prst="ellipse">
            <a:avLst/>
          </a:prstGeom>
          <a:solidFill>
            <a:srgbClr val="0B5563"/>
          </a:solidFill>
          <a:ln/>
        </p:spPr>
      </p:sp>
      <p:sp>
        <p:nvSpPr>
          <p:cNvPr id="18" name="Text 15"/>
          <p:cNvSpPr/>
          <p:nvPr/>
        </p:nvSpPr>
        <p:spPr>
          <a:xfrm>
            <a:off x="10057257" y="13716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8949690" y="2084832"/>
            <a:ext cx="28003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Pushed to GitHub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548640" y="2880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commits:</a:t>
            </a:r>
            <a:endParaRPr lang="en-US" sz="1450" dirty="0"/>
          </a:p>
        </p:txBody>
      </p:sp>
      <p:sp>
        <p:nvSpPr>
          <p:cNvPr id="21" name="Shape 18"/>
          <p:cNvSpPr/>
          <p:nvPr/>
        </p:nvSpPr>
        <p:spPr>
          <a:xfrm>
            <a:off x="548640" y="3291840"/>
            <a:ext cx="11064240" cy="2423160"/>
          </a:xfrm>
          <a:prstGeom prst="roundRect">
            <a:avLst>
              <a:gd name="adj" fmla="val 3019"/>
            </a:avLst>
          </a:prstGeom>
          <a:solidFill>
            <a:srgbClr val="EFF6F6"/>
          </a:solidFill>
          <a:ln/>
        </p:spPr>
      </p:sp>
      <p:pic>
        <p:nvPicPr>
          <p:cNvPr id="22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493008"/>
            <a:ext cx="256032" cy="256032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731520" y="3465576"/>
            <a:ext cx="310896" cy="310896"/>
          </a:xfrm>
          <a:prstGeom prst="ellipse">
            <a:avLst/>
          </a:prstGeom>
          <a:solidFill>
            <a:srgbClr val="0F8B8D"/>
          </a:solidFill>
          <a:ln/>
        </p:spPr>
      </p:sp>
      <p:pic>
        <p:nvPicPr>
          <p:cNvPr id="24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3529584"/>
            <a:ext cx="182880" cy="18288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188720" y="342900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Implement add_item with input validation</a:t>
            </a:r>
            <a:endParaRPr lang="en-US" sz="1300" dirty="0"/>
          </a:p>
        </p:txBody>
      </p:sp>
      <p:pic>
        <p:nvPicPr>
          <p:cNvPr id="26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059936"/>
            <a:ext cx="256032" cy="256032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731520" y="4032504"/>
            <a:ext cx="310896" cy="310896"/>
          </a:xfrm>
          <a:prstGeom prst="ellipse">
            <a:avLst/>
          </a:prstGeom>
          <a:solidFill>
            <a:srgbClr val="0F8B8D"/>
          </a:solidFill>
          <a:ln/>
        </p:spPr>
      </p:sp>
      <p:pic>
        <p:nvPicPr>
          <p:cNvPr id="28" name="Image 4" descr="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4096512"/>
            <a:ext cx="182880" cy="18288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188720" y="3995928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Implement update_stock (stock in / stock out)</a:t>
            </a:r>
            <a:endParaRPr lang="en-US" sz="1300" dirty="0"/>
          </a:p>
        </p:txBody>
      </p:sp>
      <p:pic>
        <p:nvPicPr>
          <p:cNvPr id="30" name="Image 5" descr="icons/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4626864"/>
            <a:ext cx="256032" cy="256032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731520" y="4599432"/>
            <a:ext cx="310896" cy="310896"/>
          </a:xfrm>
          <a:prstGeom prst="ellipse">
            <a:avLst/>
          </a:prstGeom>
          <a:solidFill>
            <a:srgbClr val="0F8B8D"/>
          </a:solidFill>
          <a:ln/>
        </p:spPr>
      </p:sp>
      <p:pic>
        <p:nvPicPr>
          <p:cNvPr id="32" name="Image 6" descr="icons/che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528" y="4663440"/>
            <a:ext cx="182880" cy="18288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1188720" y="4562856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Implement record_sale and restock alert logic</a:t>
            </a:r>
            <a:endParaRPr lang="en-US" sz="1300" dirty="0"/>
          </a:p>
        </p:txBody>
      </p:sp>
      <p:pic>
        <p:nvPicPr>
          <p:cNvPr id="34" name="Image 7" descr="icons/chec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240" y="5193792"/>
            <a:ext cx="256032" cy="256032"/>
          </a:xfrm>
          <a:prstGeom prst="rect">
            <a:avLst/>
          </a:prstGeom>
        </p:spPr>
      </p:pic>
      <p:sp>
        <p:nvSpPr>
          <p:cNvPr id="35" name="Shape 25"/>
          <p:cNvSpPr/>
          <p:nvPr/>
        </p:nvSpPr>
        <p:spPr>
          <a:xfrm>
            <a:off x="731520" y="5166360"/>
            <a:ext cx="310896" cy="310896"/>
          </a:xfrm>
          <a:prstGeom prst="ellipse">
            <a:avLst/>
          </a:prstGeom>
          <a:solidFill>
            <a:srgbClr val="0F8B8D"/>
          </a:solidFill>
          <a:ln/>
        </p:spPr>
      </p:sp>
      <p:pic>
        <p:nvPicPr>
          <p:cNvPr id="36" name="Image 8" descr="icons/check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5528" y="5230368"/>
            <a:ext cx="182880" cy="18288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1188720" y="5129784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 view_inventory for easier testing</a:t>
            </a:r>
            <a:endParaRPr lang="en-US" sz="1300" dirty="0"/>
          </a:p>
        </p:txBody>
      </p:sp>
      <p:sp>
        <p:nvSpPr>
          <p:cNvPr id="38" name="Text 2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050" dirty="0"/>
          </a:p>
        </p:txBody>
      </p:sp>
      <p:sp>
        <p:nvSpPr>
          <p:cNvPr id="39" name="Text 28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Assessment - II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566928" cy="566928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3" name="Image 0" descr="icons/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321" y="51316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6576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Solutions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48640" y="10515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309360" y="10515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1417320"/>
            <a:ext cx="5303520" cy="1005840"/>
          </a:xfrm>
          <a:prstGeom prst="roundRect">
            <a:avLst>
              <a:gd name="adj" fmla="val 7273"/>
            </a:avLst>
          </a:prstGeom>
          <a:solidFill>
            <a:srgbClr val="FBEAEA"/>
          </a:solidFill>
          <a:ln/>
        </p:spPr>
      </p:sp>
      <p:pic>
        <p:nvPicPr>
          <p:cNvPr id="8" name="Image 1" descr="icons/warning_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00200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8720" y="1527048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Selling more units than available in stock</a:t>
            </a:r>
            <a:endParaRPr lang="en-US" sz="1300" dirty="0"/>
          </a:p>
        </p:txBody>
      </p:sp>
      <p:pic>
        <p:nvPicPr>
          <p:cNvPr id="10" name="Image 2" descr="icons/arr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0448" y="1764792"/>
            <a:ext cx="320040" cy="32004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309360" y="1417320"/>
            <a:ext cx="5303520" cy="1005840"/>
          </a:xfrm>
          <a:prstGeom prst="roundRect">
            <a:avLst>
              <a:gd name="adj" fmla="val 7273"/>
            </a:avLst>
          </a:prstGeom>
          <a:solidFill>
            <a:srgbClr val="EAF6EF"/>
          </a:solidFill>
          <a:ln/>
        </p:spPr>
      </p:sp>
      <p:pic>
        <p:nvPicPr>
          <p:cNvPr id="12" name="Image 3" descr="icons/check_gree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1600200"/>
            <a:ext cx="320040" cy="32004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949440" y="1527048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quantity before deducting in record_sale()</a:t>
            </a:r>
            <a:endParaRPr lang="en-US" sz="1300" dirty="0"/>
          </a:p>
        </p:txBody>
      </p:sp>
      <p:sp>
        <p:nvSpPr>
          <p:cNvPr id="14" name="Shape 8"/>
          <p:cNvSpPr/>
          <p:nvPr/>
        </p:nvSpPr>
        <p:spPr>
          <a:xfrm>
            <a:off x="548640" y="2606040"/>
            <a:ext cx="5303520" cy="1005840"/>
          </a:xfrm>
          <a:prstGeom prst="roundRect">
            <a:avLst>
              <a:gd name="adj" fmla="val 7273"/>
            </a:avLst>
          </a:prstGeom>
          <a:solidFill>
            <a:srgbClr val="FBEAEA"/>
          </a:solidFill>
          <a:ln/>
        </p:spPr>
      </p:sp>
      <p:pic>
        <p:nvPicPr>
          <p:cNvPr id="15" name="Image 4" descr="icons/warning_r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2788920"/>
            <a:ext cx="320040" cy="32004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188720" y="2715768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typing text where a number was expected</a:t>
            </a:r>
            <a:endParaRPr lang="en-US" sz="1300" dirty="0"/>
          </a:p>
        </p:txBody>
      </p:sp>
      <p:pic>
        <p:nvPicPr>
          <p:cNvPr id="17" name="Image 5" descr="icons/arr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70448" y="2953512"/>
            <a:ext cx="320040" cy="32004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6309360" y="2606040"/>
            <a:ext cx="5303520" cy="1005840"/>
          </a:xfrm>
          <a:prstGeom prst="roundRect">
            <a:avLst>
              <a:gd name="adj" fmla="val 7273"/>
            </a:avLst>
          </a:prstGeom>
          <a:solidFill>
            <a:srgbClr val="EAF6EF"/>
          </a:solidFill>
          <a:ln/>
        </p:spPr>
      </p:sp>
      <p:pic>
        <p:nvPicPr>
          <p:cNvPr id="19" name="Image 6" descr="icons/check_gree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2240" y="2788920"/>
            <a:ext cx="320040" cy="32004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6949440" y="2715768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Wrapped input in try/except ValueError</a:t>
            </a:r>
            <a:endParaRPr lang="en-US" sz="1300" dirty="0"/>
          </a:p>
        </p:txBody>
      </p:sp>
      <p:sp>
        <p:nvSpPr>
          <p:cNvPr id="21" name="Shape 12"/>
          <p:cNvSpPr/>
          <p:nvPr/>
        </p:nvSpPr>
        <p:spPr>
          <a:xfrm>
            <a:off x="548640" y="3794760"/>
            <a:ext cx="5303520" cy="1005840"/>
          </a:xfrm>
          <a:prstGeom prst="roundRect">
            <a:avLst>
              <a:gd name="adj" fmla="val 7273"/>
            </a:avLst>
          </a:prstGeom>
          <a:solidFill>
            <a:srgbClr val="FBEAEA"/>
          </a:solidFill>
          <a:ln/>
        </p:spPr>
      </p:sp>
      <p:pic>
        <p:nvPicPr>
          <p:cNvPr id="22" name="Image 7" descr="icons/warning_r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520" y="3977640"/>
            <a:ext cx="320040" cy="320040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1188720" y="3904488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repeating for every item, every time</a:t>
            </a:r>
            <a:endParaRPr lang="en-US" sz="1300" dirty="0"/>
          </a:p>
        </p:txBody>
      </p:sp>
      <p:pic>
        <p:nvPicPr>
          <p:cNvPr id="24" name="Image 8" descr="icons/arrow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70448" y="4142232"/>
            <a:ext cx="320040" cy="320040"/>
          </a:xfrm>
          <a:prstGeom prst="rect">
            <a:avLst/>
          </a:prstGeom>
        </p:spPr>
      </p:pic>
      <p:sp>
        <p:nvSpPr>
          <p:cNvPr id="25" name="Shape 14"/>
          <p:cNvSpPr/>
          <p:nvPr/>
        </p:nvSpPr>
        <p:spPr>
          <a:xfrm>
            <a:off x="6309360" y="3794760"/>
            <a:ext cx="5303520" cy="1005840"/>
          </a:xfrm>
          <a:prstGeom prst="roundRect">
            <a:avLst>
              <a:gd name="adj" fmla="val 7273"/>
            </a:avLst>
          </a:prstGeom>
          <a:solidFill>
            <a:srgbClr val="EAF6EF"/>
          </a:solidFill>
          <a:ln/>
        </p:spPr>
      </p:sp>
      <p:pic>
        <p:nvPicPr>
          <p:cNvPr id="26" name="Image 9" descr="icons/check_green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92240" y="3977640"/>
            <a:ext cx="320040" cy="320040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6949440" y="3904488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check_restock_alert() can filter to just the changed item</a:t>
            </a:r>
            <a:endParaRPr lang="en-US" sz="1300" dirty="0"/>
          </a:p>
        </p:txBody>
      </p:sp>
      <p:sp>
        <p:nvSpPr>
          <p:cNvPr id="28" name="Text 1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050" dirty="0"/>
          </a:p>
        </p:txBody>
      </p:sp>
      <p:sp>
        <p:nvSpPr>
          <p:cNvPr id="29" name="Text 17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Assessment - II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3" name="Image 0" descr="icons/rock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321" y="51316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6576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Steps: Phase 3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640080" y="1371600"/>
            <a:ext cx="310896" cy="310896"/>
          </a:xfrm>
          <a:prstGeom prst="ellipse">
            <a:avLst/>
          </a:prstGeom>
          <a:solidFill>
            <a:srgbClr val="0F8B8D"/>
          </a:solidFill>
          <a:ln/>
        </p:spPr>
      </p:sp>
      <p:pic>
        <p:nvPicPr>
          <p:cNvPr id="6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913" y="1452433"/>
            <a:ext cx="149230" cy="14923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43000" y="1325880"/>
            <a:ext cx="10378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generate_summary() using NumPy and Pandas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640080" y="2029968"/>
            <a:ext cx="310896" cy="310896"/>
          </a:xfrm>
          <a:prstGeom prst="ellipse">
            <a:avLst/>
          </a:prstGeom>
          <a:solidFill>
            <a:srgbClr val="0F8B8D"/>
          </a:solidFill>
          <a:ln/>
        </p:spPr>
      </p:sp>
      <p:pic>
        <p:nvPicPr>
          <p:cNvPr id="9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913" y="2110801"/>
            <a:ext cx="149230" cy="14923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43000" y="1984248"/>
            <a:ext cx="10378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total stock value, average stock, low-stock list</a:t>
            </a:r>
            <a:endParaRPr lang="en-US" sz="1500" dirty="0"/>
          </a:p>
        </p:txBody>
      </p:sp>
      <p:sp>
        <p:nvSpPr>
          <p:cNvPr id="11" name="Shape 6"/>
          <p:cNvSpPr/>
          <p:nvPr/>
        </p:nvSpPr>
        <p:spPr>
          <a:xfrm>
            <a:off x="640080" y="2688336"/>
            <a:ext cx="310896" cy="310896"/>
          </a:xfrm>
          <a:prstGeom prst="ellipse">
            <a:avLst/>
          </a:prstGeom>
          <a:solidFill>
            <a:srgbClr val="0F8B8D"/>
          </a:solidFill>
          <a:ln/>
        </p:spPr>
      </p:sp>
      <p:pic>
        <p:nvPicPr>
          <p:cNvPr id="12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913" y="2769169"/>
            <a:ext cx="149230" cy="14923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43000" y="2642616"/>
            <a:ext cx="10378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all functions thoroughly with edge cases</a:t>
            </a:r>
            <a:endParaRPr lang="en-US" sz="1500" dirty="0"/>
          </a:p>
        </p:txBody>
      </p:sp>
      <p:sp>
        <p:nvSpPr>
          <p:cNvPr id="14" name="Shape 8"/>
          <p:cNvSpPr/>
          <p:nvPr/>
        </p:nvSpPr>
        <p:spPr>
          <a:xfrm>
            <a:off x="640080" y="3346704"/>
            <a:ext cx="310896" cy="310896"/>
          </a:xfrm>
          <a:prstGeom prst="ellipse">
            <a:avLst/>
          </a:prstGeom>
          <a:solidFill>
            <a:srgbClr val="0F8B8D"/>
          </a:solidFill>
          <a:ln/>
        </p:spPr>
      </p:sp>
      <p:pic>
        <p:nvPicPr>
          <p:cNvPr id="15" name="Image 4" descr="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913" y="3427537"/>
            <a:ext cx="149230" cy="14923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143000" y="3300984"/>
            <a:ext cx="10378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README, consolidated report, and repo cleanup</a:t>
            </a:r>
            <a:endParaRPr lang="en-US" sz="1500" dirty="0"/>
          </a:p>
        </p:txBody>
      </p:sp>
      <p:sp>
        <p:nvSpPr>
          <p:cNvPr id="17" name="Shape 10"/>
          <p:cNvSpPr/>
          <p:nvPr/>
        </p:nvSpPr>
        <p:spPr>
          <a:xfrm>
            <a:off x="640080" y="4005072"/>
            <a:ext cx="310896" cy="310896"/>
          </a:xfrm>
          <a:prstGeom prst="ellipse">
            <a:avLst/>
          </a:prstGeom>
          <a:solidFill>
            <a:srgbClr val="0F8B8D"/>
          </a:solidFill>
          <a:ln/>
        </p:spPr>
      </p:sp>
      <p:pic>
        <p:nvPicPr>
          <p:cNvPr id="18" name="Image 5" descr="icons/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0913" y="4085905"/>
            <a:ext cx="149230" cy="14923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143000" y="3959352"/>
            <a:ext cx="10378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for final demonstration and viva voce</a:t>
            </a:r>
            <a:endParaRPr lang="en-US" sz="1500" dirty="0"/>
          </a:p>
        </p:txBody>
      </p:sp>
      <p:sp>
        <p:nvSpPr>
          <p:cNvPr id="20" name="Shape 12"/>
          <p:cNvSpPr/>
          <p:nvPr/>
        </p:nvSpPr>
        <p:spPr>
          <a:xfrm>
            <a:off x="548640" y="5440680"/>
            <a:ext cx="11064240" cy="0"/>
          </a:xfrm>
          <a:prstGeom prst="line">
            <a:avLst/>
          </a:prstGeom>
          <a:noFill/>
          <a:ln w="12700">
            <a:solidFill>
              <a:srgbClr val="D9E6E6"/>
            </a:solidFill>
            <a:prstDash val="solid"/>
          </a:ln>
        </p:spPr>
      </p:sp>
      <p:sp>
        <p:nvSpPr>
          <p:cNvPr id="21" name="Shape 13"/>
          <p:cNvSpPr/>
          <p:nvPr/>
        </p:nvSpPr>
        <p:spPr>
          <a:xfrm>
            <a:off x="548640" y="5623560"/>
            <a:ext cx="502920" cy="502920"/>
          </a:xfrm>
          <a:prstGeom prst="ellipse">
            <a:avLst/>
          </a:prstGeom>
          <a:solidFill>
            <a:srgbClr val="0F8B8D"/>
          </a:solidFill>
          <a:ln/>
        </p:spPr>
      </p:sp>
      <p:pic>
        <p:nvPicPr>
          <p:cNvPr id="22" name="Image 6" descr="icons/che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9399" y="5754319"/>
            <a:ext cx="241402" cy="241402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1234440" y="56235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24" name="Text 1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1050" dirty="0"/>
          </a:p>
        </p:txBody>
      </p:sp>
      <p:sp>
        <p:nvSpPr>
          <p:cNvPr id="25" name="Text 16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Assessment - II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2026-09-27T19:16:20Z</dcterms:created>
  <dcterms:modified xsi:type="dcterms:W3CDTF">2026-09-27T19:16:20Z</dcterms:modified>
</cp:coreProperties>
</file>